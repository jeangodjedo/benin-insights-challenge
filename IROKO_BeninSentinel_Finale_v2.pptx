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00B89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B89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B89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B89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B89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B89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0B894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00B894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cat>
            <c:multiLvlStrRef>
              <c:f>Sheet1!$A$2:$A$12</c:f>
              <c:multiLvlStrCache>
                <c:ptCount val="11"/>
                <c:lvl>
                  <c:pt idx="0">
                    <c:v>14 avr</c:v>
                  </c:pt>
                  <c:pt idx="1">
                    <c:v>15</c:v>
                  </c:pt>
                  <c:pt idx="2">
                    <c:v>16</c:v>
                  </c:pt>
                  <c:pt idx="3">
                    <c:v>17</c:v>
                  </c:pt>
                  <c:pt idx="4">
                    <c:v>18</c:v>
                  </c:pt>
                  <c:pt idx="5">
                    <c:v>19</c:v>
                  </c:pt>
                  <c:pt idx="6">
                    <c:v>20 avr
J-4</c:v>
                  </c:pt>
                  <c:pt idx="7">
                    <c:v>21
J-3</c:v>
                  </c:pt>
                  <c:pt idx="8">
                    <c:v>22
J-2</c:v>
                  </c:pt>
                  <c:pt idx="9">
                    <c:v>23</c:v>
                  </c:pt>
                  <c:pt idx="10">
                    <c:v>24 avr
ATTAQUE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0.027</c:v>
                </c:pt>
                <c:pt idx="1">
                  <c:v>0.032</c:v>
                </c:pt>
                <c:pt idx="2">
                  <c:v>0.045</c:v>
                </c:pt>
                <c:pt idx="3">
                  <c:v>0.319</c:v>
                </c:pt>
                <c:pt idx="4">
                  <c:v>0.09</c:v>
                </c:pt>
                <c:pt idx="5">
                  <c:v>0.334</c:v>
                </c:pt>
                <c:pt idx="6">
                  <c:v>0.446</c:v>
                </c:pt>
                <c:pt idx="7">
                  <c:v>0.461</c:v>
                </c:pt>
                <c:pt idx="8">
                  <c:v>0.447</c:v>
                </c:pt>
                <c:pt idx="9">
                  <c:v>0.317</c:v>
                </c:pt>
                <c:pt idx="10">
                  <c:v>0.686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A9A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</c:scaling>
        <c:delete val="0"/>
        <c:axPos val="l"/>
        <c:majorGridlines>
          <c:spPr>
            <a:ln w="6350" cap="flat">
              <a:solidFill>
                <a:srgbClr val="2A2A3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A9A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162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E8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soldats béninois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E8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tués en une nuit.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avril 2025 — Attaque jihadiste à la frontière nord du Bénin.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0" y="548640"/>
            <a:ext cx="3840480" cy="2743200"/>
          </a:xfrm>
          <a:prstGeom prst="rect">
            <a:avLst/>
          </a:prstGeom>
          <a:solidFill>
            <a:srgbClr val="16162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03520" y="82296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8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 si les autorités</a:t>
            </a:r>
            <a:endParaRPr lang="en-US" sz="2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8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avaient su </a:t>
            </a:r>
            <a:endParaRPr lang="en-US" sz="2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jours</a:t>
            </a:r>
            <a:endParaRPr lang="en-US" sz="2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avant</a:t>
            </a:r>
            <a:endParaRPr lang="en-US" sz="2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8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4572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IROKO ANALYTICS</a:t>
            </a:r>
            <a:pPr indent="0" marL="0">
              <a:buNone/>
            </a:pPr>
            <a:r>
              <a:rPr lang="en-US" sz="100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Équipe 7  ·  Bénin Insights Challenge 2026  ·  iSHEERO × DataCamp Donates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Notre équipe, notre méthode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965960" cy="1737360"/>
          </a:xfrm>
          <a:prstGeom prst="rect">
            <a:avLst/>
          </a:prstGeom>
          <a:solidFill>
            <a:srgbClr val="16162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1965960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2801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DATA ENGINEER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1600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GODJEDO Aubrey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9659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ETL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· 120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51760" y="1097280"/>
            <a:ext cx="1965960" cy="1737360"/>
          </a:xfrm>
          <a:prstGeom prst="rect">
            <a:avLst/>
          </a:prstGeom>
          <a:solidFill>
            <a:srgbClr val="16162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51760" y="1097280"/>
            <a:ext cx="196596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2788920" y="12801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DATA ANALYST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88920" y="1600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GUIDIGBI Randyx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88920" y="19659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4 pages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16+ visualisations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1097280"/>
            <a:ext cx="1965960" cy="1737360"/>
          </a:xfrm>
          <a:prstGeom prst="rect">
            <a:avLst/>
          </a:prstGeom>
          <a:solidFill>
            <a:srgbClr val="16162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097280"/>
            <a:ext cx="1965960" cy="54864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5" name="Text 13"/>
          <p:cNvSpPr/>
          <p:nvPr/>
        </p:nvSpPr>
        <p:spPr>
          <a:xfrm>
            <a:off x="4983480" y="12801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ML ENGINEER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83480" y="1600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RANDRIANIRINA M.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19659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BeninSentinel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040880" y="1097280"/>
            <a:ext cx="1965960" cy="1737360"/>
          </a:xfrm>
          <a:prstGeom prst="rect">
            <a:avLst/>
          </a:prstGeom>
          <a:solidFill>
            <a:srgbClr val="16162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040880" y="1097280"/>
            <a:ext cx="19659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7178040" y="12801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DATA SCIENTIST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178040" y="1600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KANHONOU Pancrace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78040" y="19659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· Pitch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108960"/>
            <a:ext cx="8229600" cy="1737360"/>
          </a:xfrm>
          <a:prstGeom prst="rect">
            <a:avLst/>
          </a:prstGeom>
          <a:solidFill>
            <a:srgbClr val="161625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DÉMARCHE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" y="35661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avons d'abord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co-formulé 5 questions analytiques ensemble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sous la coordination du Data Scientist. Les tâches ont été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réparties par profil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chaque étape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validée collectivement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via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et meets réguliers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Source :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GDELT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la base mondiale qui surveille les médias dans 100+ langues, en temps réel, gratuitement.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décideurs apprennent les crises trop tard.</a:t>
            </a:r>
            <a:endParaRPr lang="en-US" sz="2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 la donnée pour agir existe déjà.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3840480" cy="822960"/>
          </a:xfrm>
          <a:prstGeom prst="rect">
            <a:avLst/>
          </a:prstGeom>
          <a:solidFill>
            <a:srgbClr val="16162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64592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44 %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103120" y="16459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couverture négative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651760"/>
            <a:ext cx="3840480" cy="822960"/>
          </a:xfrm>
          <a:prstGeom prst="rect">
            <a:avLst/>
          </a:prstGeom>
          <a:solidFill>
            <a:srgbClr val="16162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65176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99 %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103120" y="26517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repris en &lt; 24h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657600"/>
            <a:ext cx="3840480" cy="822960"/>
          </a:xfrm>
          <a:prstGeom prst="rect">
            <a:avLst/>
          </a:prstGeom>
          <a:solidFill>
            <a:srgbClr val="16162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365760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103120" y="36576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 de veille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1463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nous avons analysé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0" y="1920240"/>
            <a:ext cx="1783080" cy="1051560"/>
          </a:xfrm>
          <a:prstGeom prst="rect">
            <a:avLst/>
          </a:prstGeom>
          <a:solidFill>
            <a:srgbClr val="16162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2011680"/>
            <a:ext cx="274320" cy="2743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029200" y="196596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31 504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5029200" y="25603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événements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995160" y="1920240"/>
            <a:ext cx="1783080" cy="1051560"/>
          </a:xfrm>
          <a:prstGeom prst="rect">
            <a:avLst/>
          </a:prstGeom>
          <a:solidFill>
            <a:srgbClr val="16162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2011680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995160" y="196596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168K</a:t>
            </a:r>
            <a:endParaRPr lang="en-US" sz="2400" dirty="0"/>
          </a:p>
        </p:txBody>
      </p:sp>
      <p:sp>
        <p:nvSpPr>
          <p:cNvPr id="20" name="Text 16"/>
          <p:cNvSpPr/>
          <p:nvPr/>
        </p:nvSpPr>
        <p:spPr>
          <a:xfrm>
            <a:off x="6995160" y="25603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5029200" y="3154680"/>
            <a:ext cx="1783080" cy="1051560"/>
          </a:xfrm>
          <a:prstGeom prst="rect">
            <a:avLst/>
          </a:prstGeom>
          <a:solidFill>
            <a:srgbClr val="16162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3246120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029200" y="320040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136</a:t>
            </a:r>
            <a:endParaRPr lang="en-US" sz="2400" dirty="0"/>
          </a:p>
        </p:txBody>
      </p:sp>
      <p:sp>
        <p:nvSpPr>
          <p:cNvPr id="24" name="Text 19"/>
          <p:cNvSpPr/>
          <p:nvPr/>
        </p:nvSpPr>
        <p:spPr>
          <a:xfrm>
            <a:off x="5029200" y="37947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995160" y="3154680"/>
            <a:ext cx="1783080" cy="1051560"/>
          </a:xfrm>
          <a:prstGeom prst="rect">
            <a:avLst/>
          </a:prstGeom>
          <a:solidFill>
            <a:srgbClr val="16162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3246120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995160" y="320040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120</a:t>
            </a:r>
            <a:endParaRPr lang="en-US" sz="2400" dirty="0"/>
          </a:p>
        </p:txBody>
      </p:sp>
      <p:sp>
        <p:nvSpPr>
          <p:cNvPr id="28" name="Text 22"/>
          <p:cNvSpPr/>
          <p:nvPr/>
        </p:nvSpPr>
        <p:spPr>
          <a:xfrm>
            <a:off x="6995160" y="37947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· 100%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640080" y="4572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anticipation, le Bénin subit son récit au lieu de le piloter.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que les données révèlent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80160" y="10972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Bénin vu 1,8× plus négativement que sa réalité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80160" y="13898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44 % négatif vs 24 % positif — alors que la stabilité réelle est bonne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810512"/>
            <a:ext cx="7772400" cy="0"/>
          </a:xfrm>
          <a:prstGeom prst="line">
            <a:avLst/>
          </a:prstGeom>
          <a:noFill/>
          <a:ln w="6350">
            <a:solidFill>
              <a:srgbClr val="2A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7452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8745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 est pire qu'on ne le voit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21671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Biais linguistique : GDELT capte plus l'anglais → les médias nigérians sont surreprésentés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587752"/>
            <a:ext cx="7772400" cy="0"/>
          </a:xfrm>
          <a:prstGeom prst="line">
            <a:avLst/>
          </a:prstGeom>
          <a:noFill/>
          <a:ln w="6350">
            <a:solidFill>
              <a:srgbClr val="2A2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65176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8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26517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BeninSentinel voit venir les crises 4 jours avant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2944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Validé sur les 4 crises majeures de 2025 · 100 % de détection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364992"/>
            <a:ext cx="7772400" cy="0"/>
          </a:xfrm>
          <a:prstGeom prst="line">
            <a:avLst/>
          </a:prstGeom>
          <a:noFill/>
          <a:ln w="6350">
            <a:solidFill>
              <a:srgbClr val="2A2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42900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34290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3 000+ événements graves passent sous les radars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3721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signaux faibles invisibles qui préparent les prochaines crises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4142232"/>
            <a:ext cx="7772400" cy="0"/>
          </a:xfrm>
          <a:prstGeom prst="line">
            <a:avLst/>
          </a:prstGeom>
          <a:noFill/>
          <a:ln w="6350">
            <a:solidFill>
              <a:srgbClr val="2A2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20624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80160" y="42062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Bénin ne raconte plus son propre récit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80160" y="44988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Passif dans 68 % des événements · 7/10 sources nigérianes · souveraineté narrative à reconquérir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2743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BeninSentinel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9144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Donner du temps aux décideurs avant la prochaine crise.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4008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signaux surveillés en continu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1965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Dégradation du ton médiatique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22960" y="2286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Hausse des articles négatifs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2606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Pic de protestations et menaces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2926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Escalade verbale (tensions)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" y="3246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Escalade matérielle (violences)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3566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Événements violents directs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66344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5120640" y="2286000"/>
            <a:ext cx="1371600" cy="1005840"/>
          </a:xfrm>
          <a:prstGeom prst="rect">
            <a:avLst/>
          </a:prstGeom>
          <a:solidFill>
            <a:srgbClr val="16162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120640" y="23774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→ 1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49224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6" name="Shape 13"/>
          <p:cNvSpPr/>
          <p:nvPr/>
        </p:nvSpPr>
        <p:spPr>
          <a:xfrm>
            <a:off x="7040880" y="1691640"/>
            <a:ext cx="1828800" cy="502920"/>
          </a:xfrm>
          <a:prstGeom prst="rect">
            <a:avLst/>
          </a:prstGeom>
          <a:solidFill>
            <a:srgbClr val="161625"/>
          </a:solidFill>
          <a:ln/>
        </p:spPr>
      </p:sp>
      <p:sp>
        <p:nvSpPr>
          <p:cNvPr id="17" name="Shape 14"/>
          <p:cNvSpPr/>
          <p:nvPr/>
        </p:nvSpPr>
        <p:spPr>
          <a:xfrm>
            <a:off x="7040880" y="1691640"/>
            <a:ext cx="73152" cy="50292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8" name="Text 15"/>
          <p:cNvSpPr/>
          <p:nvPr/>
        </p:nvSpPr>
        <p:spPr>
          <a:xfrm>
            <a:off x="7223760" y="16916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955280" y="16916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Vigilance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040880" y="2331720"/>
            <a:ext cx="1828800" cy="502920"/>
          </a:xfrm>
          <a:prstGeom prst="rect">
            <a:avLst/>
          </a:prstGeom>
          <a:solidFill>
            <a:srgbClr val="161625"/>
          </a:solidFill>
          <a:ln/>
        </p:spPr>
      </p:sp>
      <p:sp>
        <p:nvSpPr>
          <p:cNvPr id="21" name="Shape 18"/>
          <p:cNvSpPr/>
          <p:nvPr/>
        </p:nvSpPr>
        <p:spPr>
          <a:xfrm>
            <a:off x="7040880" y="2331720"/>
            <a:ext cx="73152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19"/>
          <p:cNvSpPr/>
          <p:nvPr/>
        </p:nvSpPr>
        <p:spPr>
          <a:xfrm>
            <a:off x="7223760" y="23317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JAUNE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955280" y="23317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Préoccupation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040880" y="2971800"/>
            <a:ext cx="1828800" cy="502920"/>
          </a:xfrm>
          <a:prstGeom prst="rect">
            <a:avLst/>
          </a:prstGeom>
          <a:solidFill>
            <a:srgbClr val="161625"/>
          </a:solidFill>
          <a:ln/>
        </p:spPr>
      </p:sp>
      <p:sp>
        <p:nvSpPr>
          <p:cNvPr id="25" name="Shape 22"/>
          <p:cNvSpPr/>
          <p:nvPr/>
        </p:nvSpPr>
        <p:spPr>
          <a:xfrm>
            <a:off x="7040880" y="2971800"/>
            <a:ext cx="73152" cy="5029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6" name="Text 23"/>
          <p:cNvSpPr/>
          <p:nvPr/>
        </p:nvSpPr>
        <p:spPr>
          <a:xfrm>
            <a:off x="7223760" y="29718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955280" y="29718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Mobilisation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040880" y="3611880"/>
            <a:ext cx="1828800" cy="502920"/>
          </a:xfrm>
          <a:prstGeom prst="rect">
            <a:avLst/>
          </a:prstGeom>
          <a:solidFill>
            <a:srgbClr val="161625"/>
          </a:solidFill>
          <a:ln/>
        </p:spPr>
      </p:sp>
      <p:sp>
        <p:nvSpPr>
          <p:cNvPr id="29" name="Shape 26"/>
          <p:cNvSpPr/>
          <p:nvPr/>
        </p:nvSpPr>
        <p:spPr>
          <a:xfrm>
            <a:off x="7040880" y="3611880"/>
            <a:ext cx="73152" cy="502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0" name="Text 27"/>
          <p:cNvSpPr/>
          <p:nvPr/>
        </p:nvSpPr>
        <p:spPr>
          <a:xfrm>
            <a:off x="7223760" y="36118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7955280" y="36118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Crise imminente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40080" y="4572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: Présidence · Ministère de l'Intérieur · Préfets · ANSSI-Bénin · ONG de paix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preuve : 24 avril 2025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soldats tués dans une attaque jihadiste. BeninSentinel a vu venir la crise.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8229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389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pPr indent="0" marL="0">
              <a:buNone/>
            </a:pPr>
            <a:r>
              <a:rPr lang="en-US" sz="10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Vert   </a:t>
            </a:r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pPr indent="0" marL="0">
              <a:buNone/>
            </a:pPr>
            <a:r>
              <a:rPr lang="en-US" sz="10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Jaune (alerte)   </a:t>
            </a:r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pPr indent="0" marL="0">
              <a:buNone/>
            </a:pPr>
            <a:r>
              <a:rPr lang="en-US" sz="10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Orange (crise)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4663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jours d'alerte JAUNE consécutifs avant l'attaque → 4 jours pour se préparer.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 un coup de chance. Une méthode reproductible.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200400"/>
                <a:gridCol w="914400"/>
                <a:gridCol w="1097280"/>
                <a:gridCol w="10972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A9A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A9A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ÉVÉNEMENT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A9A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A9A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A9A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DÉTECTION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avril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Attaque jihadiste — 54 soldats tués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9731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0,686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J-4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novembre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 de tensions sécuritaires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9731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0,640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J-1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juin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Crise diplomatique + violence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0,592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JAUNE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J-0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décembre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Tentative de coup d'État déjouée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0,560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JAUNE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J-0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40080" y="3566160"/>
            <a:ext cx="2560320" cy="1188720"/>
          </a:xfrm>
          <a:prstGeom prst="rect">
            <a:avLst/>
          </a:prstGeom>
          <a:solidFill>
            <a:srgbClr val="16162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40080" y="36576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B8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4/4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0080" y="4206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crises détectées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474720" y="3566160"/>
            <a:ext cx="2560320" cy="1188720"/>
          </a:xfrm>
          <a:prstGeom prst="rect">
            <a:avLst/>
          </a:prstGeom>
          <a:solidFill>
            <a:srgbClr val="16162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474720" y="36576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B8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3474720" y="4206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faux positif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309360" y="3566160"/>
            <a:ext cx="2560320" cy="1188720"/>
          </a:xfrm>
          <a:prstGeom prst="rect">
            <a:avLst/>
          </a:prstGeom>
          <a:solidFill>
            <a:srgbClr val="16162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309360" y="36576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92,6 %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6309360" y="4206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jours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VERT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produit, pas un prototype.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irokoanalytics.streamlit.app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965960" cy="2926080"/>
          </a:xfrm>
          <a:prstGeom prst="rect">
            <a:avLst/>
          </a:prstGeom>
          <a:solidFill>
            <a:srgbClr val="16162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1965960" cy="54864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916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14884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stratégique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292608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questions · 16 visualisations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+ 5 actions prioritaires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651760" y="1463040"/>
            <a:ext cx="1965960" cy="2926080"/>
          </a:xfrm>
          <a:prstGeom prst="rect">
            <a:avLst/>
          </a:prstGeom>
          <a:solidFill>
            <a:srgbClr val="16162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651760" y="1463040"/>
            <a:ext cx="196596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16916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88920" y="214884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Anticiper l'impact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médiatique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788920" y="292608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modes : scénarios · guidé · avancé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du ton d'un événement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846320" y="1463040"/>
            <a:ext cx="1965960" cy="2926080"/>
          </a:xfrm>
          <a:prstGeom prst="rect">
            <a:avLst/>
          </a:prstGeom>
          <a:solidFill>
            <a:srgbClr val="16162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846320" y="1463040"/>
            <a:ext cx="1965960" cy="54864"/>
          </a:xfrm>
          <a:prstGeom prst="rect">
            <a:avLst/>
          </a:prstGeom>
          <a:solidFill>
            <a:srgbClr val="EC489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69164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983480" y="214884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BeninSentinel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crises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983480" y="292608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Chronologie des alertes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Signaux faibles visualisés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7040880" y="1463040"/>
            <a:ext cx="1965960" cy="2926080"/>
          </a:xfrm>
          <a:prstGeom prst="rect">
            <a:avLst/>
          </a:prstGeom>
          <a:solidFill>
            <a:srgbClr val="16162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040880" y="1463040"/>
            <a:ext cx="1965960" cy="54864"/>
          </a:xfrm>
          <a:prstGeom prst="rect">
            <a:avLst/>
          </a:prstGeom>
          <a:solidFill>
            <a:srgbClr val="00B89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169164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214884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réel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178040" y="292608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email automatiques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Bulletins gradués · Audit SQLite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640080" y="4572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ML : Random Forest · 55 % précision · F1 = 0,64 sur les événements négatifs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que ça change concrètement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Aligné sur le Programme d'Action du Gouvernement 2021-2026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7772400" cy="548640"/>
          </a:xfrm>
          <a:prstGeom prst="rect">
            <a:avLst/>
          </a:prstGeom>
          <a:solidFill>
            <a:srgbClr val="161625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371600"/>
            <a:ext cx="54864" cy="54864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716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13716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Déployer BeninSentinel en production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0" y="13716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3-6 mois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0" y="13716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ANSSI-Bénin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029968"/>
            <a:ext cx="7772400" cy="548640"/>
          </a:xfrm>
          <a:prstGeom prst="rect">
            <a:avLst/>
          </a:prstGeom>
          <a:solidFill>
            <a:srgbClr val="161625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2029968"/>
            <a:ext cx="54864" cy="5486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02996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71600" y="202996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de communication d'urgence H+1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69280" y="202996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mois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0" y="202996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Présidence · ABC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2688336"/>
            <a:ext cx="7772400" cy="548640"/>
          </a:xfrm>
          <a:prstGeom prst="rect">
            <a:avLst/>
          </a:prstGeom>
          <a:solidFill>
            <a:srgbClr val="161625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2688336"/>
            <a:ext cx="54864" cy="54864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268833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8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71600" y="268833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d'amplification narrative positive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69280" y="268833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mois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0" y="2688336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Affaires Étrangères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3346704"/>
            <a:ext cx="7772400" cy="548640"/>
          </a:xfrm>
          <a:prstGeom prst="rect">
            <a:avLst/>
          </a:prstGeom>
          <a:solidFill>
            <a:srgbClr val="161625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" y="3346704"/>
            <a:ext cx="54864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334670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371600" y="334670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Partenariats éditoriaux régionaux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669280" y="3346704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6-12 mois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0" y="3346704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Diplomatie publique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" y="4005072"/>
            <a:ext cx="7772400" cy="548640"/>
          </a:xfrm>
          <a:prstGeom prst="rect">
            <a:avLst/>
          </a:prstGeom>
          <a:solidFill>
            <a:srgbClr val="161625"/>
          </a:solidFill>
          <a:ln/>
        </p:spPr>
      </p:sp>
      <p:sp>
        <p:nvSpPr>
          <p:cNvPr id="29" name="Shape 27"/>
          <p:cNvSpPr/>
          <p:nvPr/>
        </p:nvSpPr>
        <p:spPr>
          <a:xfrm>
            <a:off x="640080" y="4005072"/>
            <a:ext cx="54864" cy="5486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400507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371600" y="400507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Initiatives diplomatiques signature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669280" y="400507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mois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58000" y="400507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Présidence · CEDEAO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" y="4572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Aligné sur les 3 piliers du PAG : Gouvernance · Transformation numérique · Bien-être social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800" dirty="0">
                <a:solidFill>
                  <a:srgbClr val="E8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outil n'est pas excellent</a:t>
            </a:r>
            <a:endParaRPr lang="en-US" sz="2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800" dirty="0">
                <a:solidFill>
                  <a:srgbClr val="E8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parce qu'il prédit.</a:t>
            </a:r>
            <a:endParaRPr lang="en-US" sz="2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
</a:t>
            </a:r>
            <a:endParaRPr lang="en-US" sz="2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est excellent parce qu'il</a:t>
            </a:r>
            <a:endParaRPr lang="en-US" sz="2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donne du temps.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0" y="457200"/>
            <a:ext cx="2926080" cy="3474720"/>
          </a:xfrm>
          <a:prstGeom prst="rect">
            <a:avLst/>
          </a:prstGeom>
          <a:solidFill>
            <a:srgbClr val="16162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126480" y="640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IROKO ANALYTICS · ÉQUIPE 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126480" y="1097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GODJEDO Aubrey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92240" y="13258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126480" y="1691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GUIDIGBI Randyx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92240" y="19202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26480" y="2286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RANDRIANIRINA Mahenina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92240" y="2514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26480" y="2880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KANHONOU Pancrace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92240" y="31089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26480" y="32918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github.com/jeangodjedo/benin-insights-challenge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126480" y="35204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irokoanalytics.streamlit.app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4572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iSHEERO × DataCamp Donates · Bénin Insights Challenge 2026 · Finale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45720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1887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Merci.</a:t>
            </a:r>
            <a:endParaRPr lang="en-US" sz="5200" dirty="0"/>
          </a:p>
        </p:txBody>
      </p:sp>
      <p:sp>
        <p:nvSpPr>
          <p:cNvPr id="4" name="Text 1"/>
          <p:cNvSpPr/>
          <p:nvPr/>
        </p:nvSpPr>
        <p:spPr>
          <a:xfrm>
            <a:off x="640080" y="2011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Vos questions.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2286000" y="3017520"/>
            <a:ext cx="4572000" cy="1463040"/>
          </a:xfrm>
          <a:prstGeom prst="rect">
            <a:avLst/>
          </a:prstGeom>
          <a:solidFill>
            <a:srgbClr val="16162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2468880" y="3154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IROKO ANALYTICS · ÉQUIPE 7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468880" y="352044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irokoanalytics.streamlit.app</a:t>
            </a:r>
            <a:endParaRPr lang="en-US" sz="12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github.com/jeangodjedo/benin-insights-challenge</a:t>
            </a:r>
            <a:endParaRPr lang="en-US" sz="12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formations@isheero.com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4572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Un outil n'est pas excellent parce qu'il prédit. Il est excellent parce qu'il donne du temps. »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BeninSentinel — Donner du temps aux décideurs</dc:title>
  <dc:subject>PptxGenJS Presentation</dc:subject>
  <dc:creator>IROKO Analytics</dc:creator>
  <cp:lastModifiedBy>IROKO Analytics</cp:lastModifiedBy>
  <cp:revision>1</cp:revision>
  <dcterms:created xsi:type="dcterms:W3CDTF">2026-05-28T19:26:46Z</dcterms:created>
  <dcterms:modified xsi:type="dcterms:W3CDTF">2026-05-28T19:26:46Z</dcterms:modified>
</cp:coreProperties>
</file>